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6C6"/>
                </a:solidFill>
              </a:defRPr>
            </a:pPr>
            <a:r>
              <a:t>NGX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AI-Powered Stock Market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6E2F5"/>
                </a:solidFill>
              </a:defRPr>
            </a:pPr>
            <a:r>
              <a:t>Turning Nigerian market data into explainable BUY, HOLD, and SELL insights.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3192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73152" cy="1143000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096511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Main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49884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XGBoost is the production prediction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3192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3931920"/>
            <a:ext cx="73152" cy="1143000"/>
          </a:xfrm>
          <a:prstGeom prst="rect">
            <a:avLst/>
          </a:prstGeom>
          <a:solidFill>
            <a:srgbClr val="EEA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096511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Supporting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49884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LSTM is optional and experimental.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3931920"/>
            <a:ext cx="73152" cy="1143000"/>
          </a:xfrm>
          <a:prstGeom prst="rect">
            <a:avLst/>
          </a:prstGeom>
          <a:solidFill>
            <a:srgbClr val="15B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4096511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49884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Explainable recommendations for users.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81437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8C"/>
                </a:solidFill>
              </a:defRPr>
            </a:pPr>
            <a:r>
              <a:t>Market analysis is often slow, scattered, and difficult to interpret.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2120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Investors check prices, sectors, risk, sentiment, and portfolio exposure separately.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Raw price movement does not clearly answer what action a user should take.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Manual analysis takes time and can miss important signals.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Non-technical users need clear explanations, not just charts and numbers.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4480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0" y="1691640"/>
            <a:ext cx="73152" cy="1097280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856232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Key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258568"/>
            <a:ext cx="40690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How can we turn market data into fast, explainable investment intelligence?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063240"/>
            <a:ext cx="4480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3063240"/>
            <a:ext cx="73152" cy="1097280"/>
          </a:xfrm>
          <a:prstGeom prst="rect">
            <a:avLst/>
          </a:prstGeom>
          <a:solidFill>
            <a:srgbClr val="EEA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3227832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User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630168"/>
            <a:ext cx="40690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A simple way to understand direction, confidence, risk, and recommendation.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60196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E8C"/>
                </a:solidFill>
              </a:defRPr>
            </a:pPr>
            <a:r>
              <a:t>NGX Intelligence | AI-powered Nigerian market intelligence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81437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8C"/>
                </a:solidFill>
              </a:defRPr>
            </a:pPr>
            <a:r>
              <a:t>A full-stack intelligence platform for the Nigerian Exchange.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73152" cy="1828800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647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Frontend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6712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Users view markets, stocks, sectors, portfolio intelligence, alerts, and AI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600200"/>
            <a:ext cx="73152" cy="1828800"/>
          </a:xfrm>
          <a:prstGeom prst="rect">
            <a:avLst/>
          </a:prstGeom>
          <a:solidFill>
            <a:srgbClr val="EEA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6712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FastAPI connects the frontend to market data, user data, and AI inference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0020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600200"/>
            <a:ext cx="73152" cy="1828800"/>
          </a:xfrm>
          <a:prstGeom prst="rect">
            <a:avLst/>
          </a:prstGeom>
          <a:solidFill>
            <a:srgbClr val="15B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AI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6712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XGBoost predicts upward movement; risk and sentiment improve the final recommendation.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81437"/>
                </a:solidFill>
              </a:defRPr>
            </a:pPr>
            <a:r>
              <a:t>The result is a clear BUY, HOLD, or SELL signal with probability, confidence, risk score, and explanation.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60196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E8C"/>
                </a:solidFill>
              </a:defRPr>
            </a:pPr>
            <a:r>
              <a:t>NGX Intelligence | AI-powered Nigerian market intelligence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81437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8C"/>
                </a:solidFill>
              </a:defRPr>
            </a:pPr>
            <a:r>
              <a:t>How data flows through the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1143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3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1437"/>
                </a:solidFill>
              </a:defRPr>
            </a:pPr>
            <a:r>
              <a:t>User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37360" y="2167128"/>
            <a:ext cx="347472" cy="228600"/>
          </a:xfrm>
          <a:prstGeom prst="rightArrow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37360" y="2971800"/>
            <a:ext cx="1417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3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1437"/>
                </a:solidFill>
              </a:defRPr>
            </a:pPr>
            <a:r>
              <a:t>React Frontend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46120" y="3172968"/>
            <a:ext cx="347472" cy="228600"/>
          </a:xfrm>
          <a:prstGeom prst="rightArrow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73552" y="1965960"/>
            <a:ext cx="1417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3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1437"/>
                </a:solidFill>
              </a:defRPr>
            </a:pPr>
            <a:r>
              <a:t>FastAPI Backend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82312" y="2167128"/>
            <a:ext cx="347472" cy="228600"/>
          </a:xfrm>
          <a:prstGeom prst="rightArrow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09744" y="2971800"/>
            <a:ext cx="1143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3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1437"/>
                </a:solidFill>
              </a:defRPr>
            </a:pPr>
            <a:r>
              <a:t>Market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44183" y="3172968"/>
            <a:ext cx="347472" cy="228600"/>
          </a:xfrm>
          <a:prstGeom prst="rightArrow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44183" y="1965960"/>
            <a:ext cx="1417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3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1437"/>
                </a:solidFill>
              </a:defRPr>
            </a:pPr>
            <a:r>
              <a:t>Feature Engineering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552944" y="2167128"/>
            <a:ext cx="347472" cy="228600"/>
          </a:xfrm>
          <a:prstGeom prst="rightArrow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0375" y="2971800"/>
            <a:ext cx="1143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3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1437"/>
                </a:solidFill>
              </a:defRPr>
            </a:pPr>
            <a:r>
              <a:t>XGBoost Model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14815" y="3172968"/>
            <a:ext cx="347472" cy="228600"/>
          </a:xfrm>
          <a:prstGeom prst="rightArrow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14815" y="1965960"/>
            <a:ext cx="1417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3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1437"/>
                </a:solidFill>
              </a:defRPr>
            </a:pPr>
            <a:r>
              <a:t>Risk + Sentiment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323576" y="2167128"/>
            <a:ext cx="347472" cy="228600"/>
          </a:xfrm>
          <a:prstGeom prst="rightArrow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51007" y="2971800"/>
            <a:ext cx="1417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3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1437"/>
                </a:solidFill>
              </a:defRPr>
            </a:pPr>
            <a:r>
              <a:t>Recommendation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1859767" y="3172968"/>
            <a:ext cx="347472" cy="228600"/>
          </a:xfrm>
          <a:prstGeom prst="rightArrow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887199" y="1965960"/>
            <a:ext cx="1143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3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1437"/>
                </a:solidFill>
              </a:defRPr>
            </a:pPr>
            <a:r>
              <a:t>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09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81437"/>
                </a:solidFill>
              </a:defRPr>
            </a:pPr>
            <a:r>
              <a:t>The frontend does not make predictions by itself. It asks the backend, and the backend uses trained model artifacts and market data to return intelligence.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60196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E8C"/>
                </a:solidFill>
              </a:defRPr>
            </a:pPr>
            <a:r>
              <a:t>NGX Intelligence | AI-powered Nigerian market intelligence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81437"/>
                </a:solidFill>
              </a:defRPr>
            </a:pPr>
            <a:r>
              <a:t>Machine Learning +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8C"/>
                </a:solidFill>
              </a:defRPr>
            </a:pPr>
            <a:r>
              <a:t>What the model does and how the system explains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73152" cy="1828800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19072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21408"/>
            <a:ext cx="4526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XGBoost studies historical patterns such as returns, volume, volatility, momentum, and technical indicators to estimate upward movement probability.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73152" cy="1828800"/>
          </a:xfrm>
          <a:prstGeom prst="rect">
            <a:avLst/>
          </a:prstGeom>
          <a:solidFill>
            <a:srgbClr val="EEA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19072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AI Decision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21408"/>
            <a:ext cx="4526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The system turns probability into a recommendation, then adds confidence, risk, sentiment, and explanation for the user.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69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81437"/>
                </a:solidFill>
              </a:defRPr>
            </a:pPr>
            <a:r>
              <a:t>Simple version: Machine learning predicts likely direction. AI turns that prediction into understandable guidance.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60196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E8C"/>
                </a:solidFill>
              </a:defRPr>
            </a:pPr>
            <a:r>
              <a:t>NGX Intelligence | AI-powered Nigerian market intelligence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81437"/>
                </a:solidFill>
              </a:defRPr>
            </a:pPr>
            <a:r>
              <a:t>Recommendation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8C"/>
                </a:solidFill>
              </a:defRPr>
            </a:pPr>
            <a:r>
              <a:t>How BUY, HOLD, and SELL are produced.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73152" cy="1828800"/>
          </a:xfrm>
          <a:prstGeom prst="rect">
            <a:avLst/>
          </a:prstGeom>
          <a:solidFill>
            <a:srgbClr val="15B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7335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BUY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7568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Up probability is 60% or higher. The model leans upward.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73152" cy="1828800"/>
          </a:xfrm>
          <a:prstGeom prst="rect">
            <a:avLst/>
          </a:prstGeom>
          <a:solidFill>
            <a:srgbClr val="EEA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7335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7568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Up probability is between 40% and 60%. The signal is uncertain.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5087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508760"/>
            <a:ext cx="73152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67335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SELL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7568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Up probability is 40% or lower. The model leans downward.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81437"/>
                </a:solidFill>
              </a:defRPr>
            </a:pPr>
            <a:r>
              <a:t>Probability tells the likely direction. Confidence tells how strong that direction is. Risk tells how dangerous the trade may be.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60196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E8C"/>
                </a:solidFill>
              </a:defRPr>
            </a:pPr>
            <a:r>
              <a:t>NGX Intelligence | AI-powered Nigerian market intelligence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81437"/>
                </a:solidFill>
              </a:defRPr>
            </a:pPr>
            <a:r>
              <a:t>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8C"/>
                </a:solidFill>
              </a:defRPr>
            </a:pPr>
            <a:r>
              <a:t>What I will show in the live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98755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Dashboard: market overview, movers, sectors, and AI sentiment.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Markets: heatmap-style scan of market movement.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Stocks: bullish, bearish, and neutral AI outlooks across listed instruments.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Stock detail: explainable prediction, confidence, risk, sentiment, and drivers.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Portfolio intelligence: allocation, performance, risk score, diversification, and holding-level AI outlook.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60196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E8C"/>
                </a:solidFill>
              </a:defRPr>
            </a:pPr>
            <a:r>
              <a:t>NGX Intelligence | AI-powered Nigerian market intelligence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81437"/>
                </a:solidFill>
              </a:defRPr>
            </a:pPr>
            <a:r>
              <a:t>Example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8C"/>
                </a:solidFill>
              </a:defRPr>
            </a:pPr>
            <a:r>
              <a:t>How to explain one AI recommendation simply.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3291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73152" cy="1280160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2763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Up Probability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29968"/>
            <a:ext cx="28803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The model's estimated chance of upward movement.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291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63040"/>
            <a:ext cx="73152" cy="1280160"/>
          </a:xfrm>
          <a:prstGeom prst="rect">
            <a:avLst/>
          </a:prstGeom>
          <a:solidFill>
            <a:srgbClr val="EEA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2763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29968"/>
            <a:ext cx="28803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How far the prediction is from uncertainty.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291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73152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2763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Risk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29968"/>
            <a:ext cx="28803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How risky the trade may be based on available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81437"/>
                </a:solidFill>
              </a:defRPr>
            </a:pPr>
            <a:r>
              <a:t>Example: If up probability is 63%, the system may say BUY. If confidence is low, it means this is a cautious BUY, not a guaranteed trade.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9834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B6E8C"/>
                </a:solidFill>
              </a:defRPr>
            </a:pPr>
            <a:r>
              <a:t>The platform is decision support, not financial advice.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60196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E8C"/>
                </a:solidFill>
              </a:defRPr>
            </a:pPr>
            <a:r>
              <a:t>NGX Intelligence | AI-powered Nigerian market intelligence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81437"/>
                </a:solidFill>
              </a:defRPr>
            </a:pPr>
            <a:r>
              <a:t>Current State +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8C"/>
                </a:solidFill>
              </a:defRPr>
            </a:pPr>
            <a:r>
              <a:t>What works now and what comes next.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4983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73152" cy="2194560"/>
          </a:xfrm>
          <a:prstGeom prst="rect">
            <a:avLst/>
          </a:prstGeom>
          <a:solidFill>
            <a:srgbClr val="15B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7335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Working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75688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The app runs with the market data currently loaded in the backend. XGBoost predictions, recommendations, risk scoring, stock pages, and portfolio intelligence are functional.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08760"/>
            <a:ext cx="4983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508760"/>
            <a:ext cx="73152" cy="2194560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7335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1437"/>
                </a:solidFill>
              </a:defRPr>
            </a:pPr>
            <a:r>
              <a:t>Next Production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75688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E8C"/>
                </a:solidFill>
              </a:defRPr>
            </a:pPr>
            <a:r>
              <a:t>Automate daily data refresh so new predictions are generated every trading day after market close.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81437"/>
                </a:solidFill>
              </a:defRPr>
            </a:pPr>
            <a:r>
              <a:t>Short version: the prediction engine works; the next step is scheduling the daily refresh pipeline.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60196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E8C"/>
                </a:solidFill>
              </a:defRPr>
            </a:pPr>
            <a:r>
              <a:t>NGX Intelligence | AI-powered Nigerian market intelligence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81437"/>
                </a:solidFill>
              </a:defRPr>
            </a:pPr>
            <a:r>
              <a:t>Limitations +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8C"/>
                </a:solidFill>
              </a:defRPr>
            </a:pPr>
            <a:r>
              <a:t>A realistic production 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53492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Prediction quality depends on data freshness and data quality.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Sentiment can fall back to neutral when news data is unavailable.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The platform supports decisions; it does not replace human judgment.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Daily refresh should be automated for full production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417320"/>
            <a:ext cx="52120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Deploy backend and frontend online.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Schedule daily market data ingestion.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Add backtesting and model monitoring.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Improve news/sentiment sources.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Align all confidence displays to one final recommendation source.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00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60196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E8C"/>
                </a:solidFill>
              </a:defRPr>
            </a:pPr>
            <a:r>
              <a:t>NGX Intelligence | AI-powered Nigerian market intelligence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6C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NGX Intelligence turns market data into explainable investment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D6E2F5"/>
                </a:solidFill>
              </a:defRPr>
            </a:pPr>
            <a:r>
              <a:t>It combines XGBoost predictions, confidence, risk scoring, sentiment, portfolio analytics, and explanation into one usable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69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C6C6"/>
                </a:solidFill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